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65714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885978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285655586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70752610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8461814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242361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999483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682881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61306443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704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078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146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6737B-BF88-27A2-EA36-D9BAE7E456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3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953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419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EBA61-9BD6-D21E-BDF1-278A913AEB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333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819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17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D8A0CC-79E3-079E-6580-E3C656C897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851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76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297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4C6C5-B553-60BE-F79D-C4EE1DE52B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83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908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503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73E33D-97D1-EAAB-48C0-10C50651E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7989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86619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6804845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585549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2214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6121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75758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979620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312322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5728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9666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422892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rgbClr val="BAC2DE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605852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890676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424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722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00637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90500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5874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716334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782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613687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53150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869138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808618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021108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05776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461347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9019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82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983886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511003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4213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3334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0054387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6738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44818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38932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246540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86020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659697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3982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982421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4086830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1140518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096472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486566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4452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333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13764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97625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676470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2369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0541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05789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659834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50925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8763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1E1E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92394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800">
                <a:solidFill>
                  <a:srgbClr val="CDD6F4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8445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AC2DE"/>
                </a:solidFill>
              </a:defRPr>
            </a:lvl1pPr>
            <a:lvl2pPr>
              <a:defRPr>
                <a:solidFill>
                  <a:srgbClr val="BAC2DE"/>
                </a:solidFill>
              </a:defRPr>
            </a:lvl2pPr>
            <a:lvl3pPr>
              <a:defRPr>
                <a:solidFill>
                  <a:srgbClr val="BAC2DE"/>
                </a:solidFill>
              </a:defRPr>
            </a:lvl3pPr>
            <a:lvl4pPr>
              <a:defRPr>
                <a:solidFill>
                  <a:srgbClr val="BAC2DE"/>
                </a:solidFill>
              </a:defRPr>
            </a:lvl4pPr>
            <a:lvl5pPr>
              <a:defRPr>
                <a:solidFill>
                  <a:srgbClr val="BAC2DE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3422523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A6ADC8"/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802259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A6ADC8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9682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A6ADC8"/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62201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500" b="0" i="0" u="none" strike="noStrike" cap="none" spc="0">
                <a:solidFill>
                  <a:srgbClr val="CDD6F4"/>
                </a:solidFill>
                <a:latin typeface="Adwaita Sans"/>
                <a:ea typeface="Adwaita Sans"/>
                <a:cs typeface="Adwaita Sans"/>
              </a:rPr>
              <a:t>Формат WebP</a:t>
            </a:r>
            <a:endParaRPr lang="ru-RU"/>
          </a:p>
        </p:txBody>
      </p:sp>
      <p:sp>
        <p:nvSpPr>
          <p:cNvPr id="158535340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200" b="0" i="0" u="none" strike="noStrike" cap="none" spc="0">
                <a:solidFill>
                  <a:srgbClr val="BAC2DE"/>
                </a:solidFill>
                <a:latin typeface="Adwaita Sans"/>
                <a:ea typeface="Adwaita Sans"/>
                <a:cs typeface="Adwaita Sans"/>
              </a:rPr>
              <a:t>современный стандарт изображений для веба</a:t>
            </a:r>
            <a:endParaRPr>
              <a:solidFill>
                <a:srgbClr val="BAC2DE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138923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/>
          <a:lstStyle>
            <a:lvl1pPr>
              <a:defRPr sz="2400"/>
            </a:lvl1pPr>
          </a:lstStyle>
          <a:p>
            <a:pPr>
              <a:defRPr/>
            </a:pPr>
            <a:r>
              <a:rPr lang="ru-RU" sz="4800"/>
              <a:t>Что такое </a:t>
            </a:r>
            <a:r>
              <a:rPr lang="en-US" sz="4800"/>
              <a:t>WebP</a:t>
            </a:r>
            <a:endParaRPr/>
          </a:p>
        </p:txBody>
      </p:sp>
      <p:pic>
        <p:nvPicPr>
          <p:cNvPr id="896269778" name=""/>
          <p:cNvPicPr>
            <a:picLocks noChangeAspect="1"/>
          </p:cNvPicPr>
          <p:nvPr>
            <p:ph idx="1"/>
          </p:nvPr>
        </p:nvPicPr>
        <p:blipFill rotWithShape="1">
          <a:blip r:embed="rId3"/>
        </p:blipFill>
        <p:spPr bwMode="auto">
          <a:xfrm rot="0" flipH="0" flipV="0">
            <a:off x="6095999" y="987424"/>
            <a:ext cx="4610099" cy="4873624"/>
          </a:xfrm>
          <a:prstGeom prst="rect">
            <a:avLst/>
          </a:prstGeom>
          <a:solidFill>
            <a:srgbClr val="A6ADC8"/>
          </a:solidFill>
        </p:spPr>
      </p:pic>
      <p:sp>
        <p:nvSpPr>
          <p:cNvPr id="6419858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WebP — это формат изображений, созданный для уменьшения размера файлов без заметной потери качества. </a:t>
            </a:r>
            <a:endParaRPr lang="ru-RU" sz="20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Он поддерживает сжатие с потерями и без, прозрачность и анимацию, что делает его универсальным для веб-применений.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3672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800" b="0" i="0" u="none" strike="noStrike" cap="none" spc="0">
                <a:solidFill>
                  <a:srgbClr val="CDD6F4"/>
                </a:solidFill>
                <a:latin typeface="Arial"/>
                <a:ea typeface="Arial"/>
                <a:cs typeface="Arial"/>
              </a:rPr>
              <a:t>История</a:t>
            </a:r>
            <a:endParaRPr sz="4800"/>
          </a:p>
        </p:txBody>
      </p:sp>
      <p:sp>
        <p:nvSpPr>
          <p:cNvPr id="2155769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Формат был представлен Google в 2010 году как альтернатива JPEG, PNG и GIF. </a:t>
            </a:r>
            <a:endParaRPr lang="ru-RU" sz="20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Его основой стал алгоритм VP8, разработанный для видео. </a:t>
            </a:r>
            <a:endParaRPr lang="ru-RU" sz="20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Цель WebP — ускорить загрузку страниц и снизить трафик без ущерба для визуального качества.</a:t>
            </a:r>
            <a:endParaRPr lang="ru-RU" sz="20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111865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2400"/>
            </a:lvl1pPr>
          </a:lstStyle>
          <a:p>
            <a:pPr>
              <a:defRPr/>
            </a:pPr>
            <a:r>
              <a:rPr lang="ru-RU" sz="4800" b="0" i="0" u="none" strike="noStrike" cap="none" spc="0">
                <a:solidFill>
                  <a:srgbClr val="CDD6F4"/>
                </a:solidFill>
                <a:latin typeface="Arial"/>
                <a:ea typeface="Arial"/>
                <a:cs typeface="Arial"/>
              </a:rPr>
              <a:t>Сравнение с JPEG, PNG и GIF</a:t>
            </a:r>
            <a:endParaRPr sz="4800"/>
          </a:p>
        </p:txBody>
      </p:sp>
      <p:pic>
        <p:nvPicPr>
          <p:cNvPr id="1612604500" name=""/>
          <p:cNvPicPr>
            <a:picLocks noChangeAspect="1"/>
          </p:cNvPicPr>
          <p:nvPr>
            <p:ph idx="1"/>
          </p:nvPr>
        </p:nvPicPr>
        <p:blipFill rotWithShape="1">
          <a:blip r:embed="rId3"/>
        </p:blipFill>
        <p:spPr bwMode="auto">
          <a:xfrm rot="0">
            <a:off x="5832474" y="995360"/>
            <a:ext cx="4873625" cy="4873625"/>
          </a:xfrm>
          <a:prstGeom prst="rect">
            <a:avLst/>
          </a:prstGeom>
        </p:spPr>
      </p:pic>
      <p:sp>
        <p:nvSpPr>
          <p:cNvPr id="4064578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>
              <a:defRPr/>
            </a:pPr>
            <a:r>
              <a:rPr lang="ru-RU" sz="19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JPEG — хорош для фото, но крупнее и без прозрачности.</a:t>
            </a:r>
            <a:endParaRPr lang="ru-RU" sz="19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9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PNG — отличная детализация и альфа-канал, но большие размеры.</a:t>
            </a:r>
            <a:endParaRPr lang="ru-RU" sz="19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9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GIF — простая анимация, но низкое цветовое качество.</a:t>
            </a:r>
            <a:endParaRPr lang="ru-RU" sz="19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9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WebP — сочетает преимущества всех трёх: меньше вес, высокое качество, прозрачность 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334363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/>
          <a:lstStyle>
            <a:lvl1pPr>
              <a:defRPr sz="2400"/>
            </a:lvl1pPr>
          </a:lstStyle>
          <a:p>
            <a:pPr>
              <a:defRPr/>
            </a:pPr>
            <a:r>
              <a:rPr lang="ru-RU" sz="4800" b="0" i="0" u="none" strike="noStrike" cap="none" spc="0">
                <a:solidFill>
                  <a:srgbClr val="CDD6F4"/>
                </a:solidFill>
                <a:latin typeface="Arial"/>
                <a:ea typeface="Arial"/>
                <a:cs typeface="Arial"/>
              </a:rPr>
              <a:t>Причины успеха</a:t>
            </a:r>
            <a:endParaRPr/>
          </a:p>
        </p:txBody>
      </p:sp>
      <p:pic>
        <p:nvPicPr>
          <p:cNvPr id="155450440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5832475" y="987425"/>
            <a:ext cx="4873625" cy="4873625"/>
          </a:xfrm>
          <a:prstGeom prst="rect">
            <a:avLst/>
          </a:prstGeom>
          <a:solidFill>
            <a:srgbClr val="A6ADC8"/>
          </a:solidFill>
        </p:spPr>
      </p:pic>
      <p:sp>
        <p:nvSpPr>
          <p:cNvPr id="20594908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>
              <a:defRPr/>
            </a:pPr>
            <a:endParaRPr lang="ru-RU" sz="16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Существенное уменьшение размера изображений.</a:t>
            </a:r>
            <a:endParaRPr lang="ru-RU" sz="16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6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Быстрая загрузка страниц.</a:t>
            </a:r>
            <a:endParaRPr lang="ru-RU" sz="16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6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Поддержка прозрачности и анимации.</a:t>
            </a:r>
            <a:endParaRPr lang="ru-RU" sz="16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6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Совместимость с современными браузерами.</a:t>
            </a:r>
            <a:endParaRPr lang="ru-RU" sz="1600" b="0" i="0" u="none" strike="noStrike" cap="none" spc="0">
              <a:solidFill>
                <a:srgbClr val="BAC2DE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600" b="0" i="0" u="none" strike="noStrike" cap="none" spc="0">
              <a:solidFill>
                <a:srgbClr val="BAC2DE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• Оптимальный баланс качества и производительности.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133648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/>
          <a:lstStyle>
            <a:lvl1pPr algn="ctr">
              <a:defRPr sz="4500"/>
            </a:lvl1pPr>
          </a:lstStyle>
          <a:p>
            <a:pPr>
              <a:defRPr/>
            </a:pPr>
            <a:r>
              <a:rPr lang="ru-RU" sz="4800" b="0" i="0" u="none" strike="noStrike" cap="none" spc="0">
                <a:solidFill>
                  <a:srgbClr val="CDD6F4"/>
                </a:solidFill>
                <a:latin typeface="Arial"/>
                <a:ea typeface="Arial"/>
                <a:cs typeface="Arial"/>
              </a:rPr>
              <a:t>Заключение</a:t>
            </a:r>
            <a:endParaRPr/>
          </a:p>
        </p:txBody>
      </p:sp>
      <p:sp>
        <p:nvSpPr>
          <p:cNvPr id="146205121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ru-RU" sz="2000" b="0" i="0" u="none" strike="noStrike" cap="none" spc="0">
                <a:solidFill>
                  <a:srgbClr val="BAC2DE"/>
                </a:solidFill>
                <a:latin typeface="Arial"/>
                <a:ea typeface="Arial"/>
                <a:cs typeface="Arial"/>
              </a:rPr>
              <a:t>WebP стал ключевым форматом для современной веб-графики. Он помогает ускорять сайты, экономить трафик и сохранять высокое качество визуального контента, оставаясь универсальным и гибким решением для любых проектов.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2025-12-08T20:09:51Z</dcterms:modified>
</cp:coreProperties>
</file>