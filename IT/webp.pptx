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19724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65389872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10/30/2013</a:t>
            </a:fld>
            <a:endParaRPr lang="ru-RU"/>
          </a:p>
        </p:txBody>
      </p:sp>
      <p:sp>
        <p:nvSpPr>
          <p:cNvPr id="329946941" name="Рисунок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224047754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92732116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2174625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52546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007952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32860034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4643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69346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99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C6737B-BF88-27A2-EA36-D9BAE7E456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2974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9795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178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AEBA61-9BD6-D21E-BDF1-278A913AEB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3172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1089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3406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D8A0CC-79E3-079E-6580-E3C656C897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1473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9427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72248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D4C6C5-B553-60BE-F79D-C4EE1DE52B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44785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2381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82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73E33D-97D1-EAAB-48C0-10C50651E5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934994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7652297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9999157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657763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1820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382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5960702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75665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454119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977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53311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062305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rgbClr val="BAC2DE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4833702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431844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7078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9120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2265058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253624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3822214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804912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1910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136351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082200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3029999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9560493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3197108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8945830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011172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19193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2915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3498577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3511527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294673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796341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1653256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97096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179193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645658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1747643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575303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3629112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14199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930443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5609231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91455900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8789173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1661528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74729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6994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0380915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711095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351069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0468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99272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8468049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372027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016124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6007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1E1E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855965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>
              <a:defRPr sz="4800">
                <a:solidFill>
                  <a:srgbClr val="CDD6F4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598689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rgbClr val="BAC2DE"/>
                </a:solidFill>
              </a:defRPr>
            </a:lvl1pPr>
            <a:lvl2pPr>
              <a:defRPr>
                <a:solidFill>
                  <a:srgbClr val="BAC2DE"/>
                </a:solidFill>
              </a:defRPr>
            </a:lvl2pPr>
            <a:lvl3pPr>
              <a:defRPr>
                <a:solidFill>
                  <a:srgbClr val="BAC2DE"/>
                </a:solidFill>
              </a:defRPr>
            </a:lvl3pPr>
            <a:lvl4pPr>
              <a:defRPr>
                <a:solidFill>
                  <a:srgbClr val="BAC2DE"/>
                </a:solidFill>
              </a:defRPr>
            </a:lvl4pPr>
            <a:lvl5pPr>
              <a:defRPr>
                <a:solidFill>
                  <a:srgbClr val="BAC2DE"/>
                </a:solidFill>
              </a:defRPr>
            </a:lvl5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788984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A6ADC8"/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4851181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rgbClr val="A6ADC8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6773248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A6ADC8"/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51077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500" b="0" i="0" u="none" strike="noStrike" cap="none" spc="0">
                <a:solidFill>
                  <a:srgbClr val="CDD6F4"/>
                </a:solidFill>
                <a:latin typeface="Adwaita Sans"/>
                <a:ea typeface="Adwaita Sans"/>
                <a:cs typeface="Adwaita Sans"/>
              </a:rPr>
              <a:t>Формат WebP</a:t>
            </a:r>
            <a:endParaRPr lang="ru-RU"/>
          </a:p>
        </p:txBody>
      </p:sp>
      <p:sp>
        <p:nvSpPr>
          <p:cNvPr id="623938329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2200" b="0" i="0" u="none" strike="noStrike" cap="none" spc="0">
                <a:solidFill>
                  <a:srgbClr val="BAC2DE"/>
                </a:solidFill>
                <a:latin typeface="Adwaita Sans"/>
                <a:ea typeface="Adwaita Sans"/>
                <a:cs typeface="Adwaita Sans"/>
              </a:rPr>
              <a:t>современный стандарт изображений для веба</a:t>
            </a:r>
            <a:endParaRPr>
              <a:solidFill>
                <a:srgbClr val="BAC2DE"/>
              </a:solidFill>
              <a:latin typeface="Adwaita Sans"/>
              <a:cs typeface="Adwaita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968692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/>
          <a:lstStyle>
            <a:lvl1pPr>
              <a:defRPr sz="2400"/>
            </a:lvl1pPr>
          </a:lstStyle>
          <a:p>
            <a:pPr>
              <a:defRPr/>
            </a:pPr>
            <a:r>
              <a:rPr lang="ru-RU" sz="4800"/>
              <a:t>Что такое </a:t>
            </a:r>
            <a:r>
              <a:rPr lang="en-US" sz="4800"/>
              <a:t>WebP</a:t>
            </a:r>
            <a:endParaRPr/>
          </a:p>
        </p:txBody>
      </p:sp>
      <p:pic>
        <p:nvPicPr>
          <p:cNvPr id="1079405938" name=""/>
          <p:cNvPicPr>
            <a:picLocks noChangeAspect="1"/>
          </p:cNvPicPr>
          <p:nvPr>
            <p:ph idx="1"/>
          </p:nvPr>
        </p:nvPicPr>
        <p:blipFill rotWithShape="1">
          <a:blip r:embed="rId3"/>
        </p:blipFill>
        <p:spPr bwMode="auto">
          <a:xfrm rot="0" flipH="0" flipV="0">
            <a:off x="6095999" y="987424"/>
            <a:ext cx="4610099" cy="4873624"/>
          </a:xfrm>
          <a:prstGeom prst="rect">
            <a:avLst/>
          </a:prstGeom>
          <a:solidFill>
            <a:srgbClr val="A6ADC8"/>
          </a:solidFill>
        </p:spPr>
      </p:pic>
      <p:sp>
        <p:nvSpPr>
          <p:cNvPr id="142657643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WebP — это формат изображений, созданный для уменьшения размера файлов без заметной потери качества. </a:t>
            </a:r>
            <a:endParaRPr lang="ru-RU" sz="20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Он поддерживает сжатие с потерями и без, прозрачность и анимацию, что делает его универсальным для веб-применений.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39613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800" b="0" i="0" u="none" strike="noStrike" cap="none" spc="0">
                <a:solidFill>
                  <a:srgbClr val="CDD6F4"/>
                </a:solidFill>
                <a:latin typeface="Arial"/>
                <a:ea typeface="Arial"/>
                <a:cs typeface="Arial"/>
              </a:rPr>
              <a:t>История</a:t>
            </a:r>
            <a:endParaRPr sz="4800"/>
          </a:p>
        </p:txBody>
      </p:sp>
      <p:sp>
        <p:nvSpPr>
          <p:cNvPr id="49089425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Формат был представлен Google в 2010 году как альтернатива JPEG, PNG и GIF. </a:t>
            </a:r>
            <a:endParaRPr lang="ru-RU" sz="20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Его основой стал алгоритм VP8, разработанный для видео. </a:t>
            </a:r>
            <a:endParaRPr lang="ru-RU" sz="20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Цель WebP — ускорить загрузку страниц и снизить трафик без ущерба для визуального качества.</a:t>
            </a:r>
            <a:endParaRPr lang="ru-RU" sz="20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4102530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0000" lnSpcReduction="2000"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 sz="4800" b="0" i="0" u="none" strike="noStrike" cap="none" spc="0">
                <a:solidFill>
                  <a:srgbClr val="CDD6F4"/>
                </a:solidFill>
                <a:latin typeface="Arial"/>
                <a:ea typeface="Arial"/>
                <a:cs typeface="Arial"/>
              </a:rPr>
              <a:t>Сравнение с JPEG, PNG и GIF</a:t>
            </a:r>
            <a:endParaRPr sz="4800"/>
          </a:p>
        </p:txBody>
      </p:sp>
      <p:pic>
        <p:nvPicPr>
          <p:cNvPr id="1686205466" name=""/>
          <p:cNvPicPr>
            <a:picLocks noChangeAspect="1"/>
          </p:cNvPicPr>
          <p:nvPr>
            <p:ph idx="1"/>
          </p:nvPr>
        </p:nvPicPr>
        <p:blipFill rotWithShape="1">
          <a:blip r:embed="rId3"/>
        </p:blipFill>
        <p:spPr bwMode="auto">
          <a:xfrm rot="0">
            <a:off x="5832474" y="995360"/>
            <a:ext cx="4873625" cy="4873625"/>
          </a:xfrm>
          <a:prstGeom prst="rect">
            <a:avLst/>
          </a:prstGeom>
        </p:spPr>
      </p:pic>
      <p:sp>
        <p:nvSpPr>
          <p:cNvPr id="4620156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ZIP — быстрый и максимально поддерживаемый формат, но сжатие в среднем слабее.</a:t>
            </a:r>
            <a:endParaRPr lang="ru-RU" sz="20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sz="2000" b="0" i="0" u="none" strike="noStrike" cap="none" spc="0">
              <a:solidFill>
                <a:srgbClr val="BAC2DE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RAR — даёт хорошую плотность сжатия, но является проприетарным.</a:t>
            </a:r>
            <a:endParaRPr lang="ru-RU" sz="20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sz="2000" b="0" i="0" u="none" strike="noStrike" cap="none" spc="0">
              <a:solidFill>
                <a:srgbClr val="BAC2DE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7z — обеспечивает лучшую компрессию, чем ZIP и часто лучше, чем RAR, при этом оставаясь открытым и бесплатным.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703178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/>
          <a:lstStyle>
            <a:lvl1pPr>
              <a:defRPr sz="2400"/>
            </a:lvl1pPr>
          </a:lstStyle>
          <a:p>
            <a:pPr>
              <a:defRPr/>
            </a:pPr>
            <a:r>
              <a:rPr lang="ru-RU" sz="4800" b="0" i="0" u="none" strike="noStrike" cap="none" spc="0">
                <a:solidFill>
                  <a:srgbClr val="CDD6F4"/>
                </a:solidFill>
                <a:latin typeface="Arial"/>
                <a:ea typeface="Arial"/>
                <a:cs typeface="Arial"/>
              </a:rPr>
              <a:t>Причины успеха</a:t>
            </a:r>
            <a:endParaRPr/>
          </a:p>
        </p:txBody>
      </p:sp>
      <p:pic>
        <p:nvPicPr>
          <p:cNvPr id="2074621493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5832475" y="987425"/>
            <a:ext cx="4873625" cy="4873625"/>
          </a:xfrm>
          <a:prstGeom prst="rect">
            <a:avLst/>
          </a:prstGeom>
          <a:solidFill>
            <a:srgbClr val="A6ADC8"/>
          </a:solidFill>
        </p:spPr>
      </p:pic>
      <p:sp>
        <p:nvSpPr>
          <p:cNvPr id="75977786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>
              <a:defRPr/>
            </a:pPr>
            <a:endParaRPr lang="ru-RU" sz="16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Существенное уменьшение размера изображений.</a:t>
            </a:r>
            <a:endParaRPr lang="ru-RU" sz="16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ru-RU" sz="1600" b="0" i="0" u="none" strike="noStrike" cap="none" spc="0">
              <a:solidFill>
                <a:srgbClr val="BAC2DE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Быстрая загрузка страниц.</a:t>
            </a:r>
            <a:endParaRPr lang="ru-RU" sz="16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ru-RU" sz="1600" b="0" i="0" u="none" strike="noStrike" cap="none" spc="0">
              <a:solidFill>
                <a:srgbClr val="BAC2DE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Поддержка прозрачности и анимации.</a:t>
            </a:r>
            <a:endParaRPr lang="ru-RU" sz="16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ru-RU" sz="1600" b="0" i="0" u="none" strike="noStrike" cap="none" spc="0">
              <a:solidFill>
                <a:srgbClr val="BAC2DE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Совместимость с современными браузерами.</a:t>
            </a:r>
            <a:endParaRPr lang="ru-RU" sz="1600" b="0" i="0" u="none" strike="noStrike" cap="none" spc="0">
              <a:solidFill>
                <a:srgbClr val="BAC2DE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ru-RU" sz="1600" b="0" i="0" u="none" strike="noStrike" cap="none" spc="0">
              <a:solidFill>
                <a:srgbClr val="BAC2DE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• Оптимальный баланс качества и производительности.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0434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/>
          <a:lstStyle>
            <a:lvl1pPr algn="ctr">
              <a:defRPr sz="4500"/>
            </a:lvl1pPr>
          </a:lstStyle>
          <a:p>
            <a:pPr>
              <a:defRPr/>
            </a:pPr>
            <a:r>
              <a:rPr lang="ru-RU" sz="4800" b="0" i="0" u="none" strike="noStrike" cap="none" spc="0">
                <a:solidFill>
                  <a:srgbClr val="CDD6F4"/>
                </a:solidFill>
                <a:latin typeface="Arial"/>
                <a:ea typeface="Arial"/>
                <a:cs typeface="Arial"/>
              </a:rPr>
              <a:t>Заключение</a:t>
            </a:r>
            <a:endParaRPr/>
          </a:p>
        </p:txBody>
      </p:sp>
      <p:sp>
        <p:nvSpPr>
          <p:cNvPr id="120109071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 lang="ru-RU" sz="2000" b="0" i="0" u="none" strike="noStrike" cap="none" spc="0">
                <a:solidFill>
                  <a:srgbClr val="BAC2DE"/>
                </a:solidFill>
                <a:latin typeface="Arial"/>
                <a:ea typeface="Arial"/>
                <a:cs typeface="Arial"/>
              </a:rPr>
              <a:t>WebP стал ключевым форматом для современной веб-графики. Он помогает ускорять сайты, экономить трафик и сохранять высокое качество визуального контента, оставаясь универсальным и гибким решением для любых проектов.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2025-12-08T20:06:51Z</dcterms:modified>
</cp:coreProperties>
</file>