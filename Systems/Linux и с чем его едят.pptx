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557052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70680739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1846627300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404642011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429323230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01099118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292098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31293628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894047732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CD7A8F-4694-0D8A-FA04-235FDE70F5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4A43AA-2683-010D-6B49-8393676A25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548924-9CF3-E45D-0D3B-65A6006CBA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6E1F35-446A-B980-3499-1C5435061A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F4A87B-0EC3-9B21-2304-7A178EA8CF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3521F0-D446-C958-2301-5C2D99FBA0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78F8AF-BD44-995D-C411-F15E23018F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94178-59DD-BC99-8C4E-A80EB43C8F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AA9081-956D-938B-06D4-2F5FDD3842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6ABCC4-3E54-9D8D-7DF9-BBD22C7BE2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020634-31CB-64A2-C3AD-3EAC850D28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5BECF6-C4CC-C307-55A8-7A38151B12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BB21CE-1E4F-FC76-9AD5-6BC615ABC7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D8E8F6-26B3-AFBD-88EA-BC699B21A7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89D063-93B3-A2D0-F659-4DE8F4A4E3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1BA16C-4B84-201D-CCB2-1672DA4BBB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5A0CDA-E5DB-E369-B7A3-C6F7999813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9A6B49-F619-2EEE-127C-DAEBD75230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D87DE9-7E14-1D63-2AE8-E3CD20338E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B4E2B4-7633-C0DA-26C9-B21B8013F1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803393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3969274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94988349" name="Shape 1061"/>
          <p:cNvSpPr>
            <a:spLocks noChangeArrowheads="1" noGrp="1"/>
          </p:cNvSpPr>
          <p:nvPr userDrawn="1"/>
        </p:nvSpPr>
        <p:spPr bwMode="auto">
          <a:xfrm>
            <a:off x="6567031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1529023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04073190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13189162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6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8780474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8891320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3550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292248640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6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1734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7014481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122469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644173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8017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437504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9092826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066927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341945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78929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4250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5975921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209409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02462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3186737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00200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0252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357118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7567548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0688493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2752954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3741228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5798505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33169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822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1056856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9542608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920265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83448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4500634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41621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880371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09440404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8071061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0818177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2283298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108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622110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9770128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4067064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916415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943992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41905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6181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5581506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309387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160437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0091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57986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1568470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596596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289384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0703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621073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73051484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19935525" name="Shape 1061"/>
          <p:cNvSpPr>
            <a:spLocks noChangeArrowheads="1" noGrp="1"/>
          </p:cNvSpPr>
          <p:nvPr userDrawn="1"/>
        </p:nvSpPr>
        <p:spPr bwMode="auto">
          <a:xfrm>
            <a:off x="1637457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53386299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333855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0904422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2696703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30074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hyperlink" Target="https://www.reddit.com/r/unixporn/comments/1ky6m7w/kde_unmicrosofted_windows_11/" TargetMode="External"/><Relationship Id="rId5" Type="http://schemas.openxmlformats.org/officeDocument/2006/relationships/hyperlink" Target="https://www.reddit.com/r/unixporn/comments/1qgghzz/kde_windoesnt_7/" TargetMode="External"/><Relationship Id="rId6" Type="http://schemas.openxmlformats.org/officeDocument/2006/relationships/hyperlink" Target="https://www.reddit.com/r/unixporn/comments/1qiw0pm/niri_my_attempt_at_a_retro_inspired_setup/" TargetMode="External"/><Relationship Id="rId7" Type="http://schemas.openxmlformats.org/officeDocument/2006/relationships/hyperlink" Target="https://www.reddit.com/r/unixporn/comments/1qfhfvi/hyprland_blur_ahoy/" TargetMode="External"/><Relationship Id="rId8" Type="http://schemas.openxmlformats.org/officeDocument/2006/relationships/hyperlink" Target="https://www.reddit.com/r/unixporn/comments/1qg8zcf/kde_my_minimalist_monochrome_rice/" TargetMode="Externa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jp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296213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 ОС </a:t>
            </a:r>
            <a:r>
              <a:rPr lang="en-US"/>
              <a:t>GNU/Linux</a:t>
            </a:r>
            <a:endParaRPr lang="ru-RU"/>
          </a:p>
        </p:txBody>
      </p:sp>
      <p:sp>
        <p:nvSpPr>
          <p:cNvPr id="2141163866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 и с чем его едят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511586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ru-RU" sz="4000" b="1" i="0" u="none" strike="noStrike" cap="all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Архитектура GNU/Linux</a:t>
            </a:r>
            <a:endParaRPr/>
          </a:p>
        </p:txBody>
      </p:sp>
      <p:sp>
        <p:nvSpPr>
          <p:cNvPr id="9480990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GNU/Linux состоит из двух уровней:</a:t>
            </a:r>
            <a:endParaRPr lang="ru-RU" sz="2000" b="0" i="0" u="none" strike="noStrike" cap="none" spc="0">
              <a:solidFill>
                <a:schemeClr val="tx1">
                  <a:tint val="7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Kernel space — ядро Linux. Работает напрямую с железом.</a:t>
            </a:r>
            <a:endParaRPr lang="ru-RU" sz="2000" b="0" i="0" u="none" strike="noStrike" cap="none" spc="0">
              <a:solidFill>
                <a:schemeClr val="tx1">
                  <a:tint val="7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User space — все пользовательские программы.</a:t>
            </a:r>
            <a:endParaRPr lang="ru-RU" sz="2000" b="0" i="0" u="none" strike="noStrike" cap="none" spc="0">
              <a:solidFill>
                <a:schemeClr val="tx1">
                  <a:tint val="7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Приложения не имеют прямого доступа к железу, только через системные вызовы ядра.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740492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ru-RU" sz="4000" b="1" i="0" u="none" strike="noStrike" cap="all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Что делает ядро Linux</a:t>
            </a:r>
            <a:endParaRPr/>
          </a:p>
        </p:txBody>
      </p:sp>
      <p:sp>
        <p:nvSpPr>
          <p:cNvPr id="18627333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70000" lnSpcReduction="6000"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Ядро отвечает за:</a:t>
            </a:r>
            <a:endParaRPr lang="ru-RU" sz="2000" b="0" i="0" u="none" strike="noStrike" cap="none" spc="0">
              <a:solidFill>
                <a:schemeClr val="tx1">
                  <a:tint val="75000"/>
                </a:schemeClr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–"/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планирование процессов</a:t>
            </a:r>
            <a:endParaRPr lang="ru-RU" sz="2000" b="0" i="0" u="none" strike="noStrike" cap="none" spc="0">
              <a:solidFill>
                <a:schemeClr val="tx1">
                  <a:tint val="75000"/>
                </a:schemeClr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–"/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управление памятью</a:t>
            </a:r>
            <a:endParaRPr lang="ru-RU" sz="2000" b="0" i="0" u="none" strike="noStrike" cap="none" spc="0">
              <a:solidFill>
                <a:schemeClr val="tx1">
                  <a:tint val="75000"/>
                </a:schemeClr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–"/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работу с файловыми системами</a:t>
            </a:r>
            <a:endParaRPr lang="ru-RU" sz="2000" b="0" i="0" u="none" strike="noStrike" cap="none" spc="0">
              <a:solidFill>
                <a:schemeClr val="tx1">
                  <a:tint val="75000"/>
                </a:schemeClr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–"/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драйверы устройств</a:t>
            </a:r>
            <a:endParaRPr lang="ru-RU" sz="2000" b="0" i="0" u="none" strike="noStrike" cap="none" spc="0">
              <a:solidFill>
                <a:schemeClr val="tx1">
                  <a:tint val="75000"/>
                </a:schemeClr>
              </a:solidFill>
              <a:latin typeface="Arial"/>
              <a:ea typeface="Arial"/>
              <a:cs typeface="Arial"/>
            </a:endParaRPr>
          </a:p>
          <a:p>
            <a:pPr marL="261850" indent="-261850">
              <a:buFont typeface="Arial"/>
              <a:buChar char="–"/>
              <a:defRPr/>
            </a:pPr>
            <a:endParaRPr lang="ru-RU" sz="2000" b="0" i="0" u="none" strike="noStrike" cap="none" spc="0">
              <a:solidFill>
                <a:schemeClr val="tx1">
                  <a:tint val="7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Любая программа обращается к ядру через syscall.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59070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ru-RU" sz="4000" b="1" i="0" u="none" strike="noStrike" cap="all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Userspace и GNU</a:t>
            </a:r>
            <a:endParaRPr/>
          </a:p>
        </p:txBody>
      </p:sp>
      <p:sp>
        <p:nvSpPr>
          <p:cNvPr id="50162218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80000" lnSpcReduction="4000"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GNU предоставляет:</a:t>
            </a:r>
            <a:endParaRPr lang="ru-RU" sz="2000" b="0" i="0" u="none" strike="noStrike" cap="none" spc="0">
              <a:solidFill>
                <a:schemeClr val="tx1">
                  <a:tint val="75000"/>
                </a:schemeClr>
              </a:solidFill>
              <a:latin typeface="Arial"/>
              <a:cs typeface="Arial"/>
            </a:endParaRPr>
          </a:p>
          <a:p>
            <a:pPr marL="294893" indent="-294893">
              <a:buFont typeface="Arial"/>
              <a:buChar char="–"/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shell (bash)</a:t>
            </a:r>
            <a:endParaRPr lang="ru-RU" sz="2000" b="0" i="0" u="none" strike="noStrike" cap="none" spc="0">
              <a:solidFill>
                <a:schemeClr val="tx1">
                  <a:tint val="75000"/>
                </a:schemeClr>
              </a:solidFill>
              <a:latin typeface="Arial"/>
              <a:cs typeface="Arial"/>
            </a:endParaRPr>
          </a:p>
          <a:p>
            <a:pPr marL="294893" indent="-294893">
              <a:buFont typeface="Arial"/>
              <a:buChar char="–"/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базовые утилиты</a:t>
            </a:r>
            <a:endParaRPr lang="ru-RU" sz="2000" b="0" i="0" u="none" strike="noStrike" cap="none" spc="0">
              <a:solidFill>
                <a:schemeClr val="tx1">
                  <a:tint val="75000"/>
                </a:schemeClr>
              </a:solidFill>
              <a:latin typeface="Arial"/>
              <a:cs typeface="Arial"/>
            </a:endParaRPr>
          </a:p>
          <a:p>
            <a:pPr marL="294893" indent="-294893">
              <a:buFont typeface="Arial"/>
              <a:buChar char="–"/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стандартную библиотеку libc</a:t>
            </a:r>
            <a:endParaRPr lang="ru-RU" sz="2000" b="0" i="0" u="none" strike="noStrike" cap="none" spc="0">
              <a:solidFill>
                <a:schemeClr val="tx1">
                  <a:tint val="75000"/>
                </a:schemeClr>
              </a:solidFill>
              <a:latin typeface="Arial"/>
              <a:ea typeface="Arial"/>
              <a:cs typeface="Arial"/>
            </a:endParaRPr>
          </a:p>
          <a:p>
            <a:pPr marL="294893" indent="-294893">
              <a:buFont typeface="Arial"/>
              <a:buChar char="–"/>
              <a:defRPr/>
            </a:pPr>
            <a:endParaRPr lang="ru-RU" sz="2000" b="0" i="0" u="none" strike="noStrike" cap="none" spc="0">
              <a:solidFill>
                <a:schemeClr val="tx1">
                  <a:tint val="7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Без GNU пользователь не может взаимодействовать с ядром.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516479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 sz="2000" b="1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Файловая система</a:t>
            </a:r>
            <a:endParaRPr/>
          </a:p>
        </p:txBody>
      </p:sp>
      <p:pic>
        <p:nvPicPr>
          <p:cNvPr id="1432423557" name=""/>
          <p:cNvPicPr>
            <a:picLocks noChangeAspect="1"/>
          </p:cNvPicPr>
          <p:nvPr>
            <p:ph idx="1"/>
          </p:nvPr>
        </p:nvPicPr>
        <p:blipFill rotWithShape="1">
          <a:blip r:embed="rId3"/>
          <a:srcRect l="0" t="4649" r="0" b="3537"/>
          <a:stretch/>
        </p:blipFill>
        <p:spPr bwMode="auto">
          <a:xfrm rot="0" flipH="0" flipV="0">
            <a:off x="5833321" y="545194"/>
            <a:ext cx="4682490" cy="5373912"/>
          </a:xfrm>
          <a:prstGeom prst="roundRect">
            <a:avLst>
              <a:gd name="adj" fmla="val 16667"/>
            </a:avLst>
          </a:prstGeom>
        </p:spPr>
      </p:pic>
      <p:sp>
        <p:nvSpPr>
          <p:cNvPr id="5803210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В Linux один корень — /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Жёсткие диски, флешки, устройства — монтируются в дерево.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Обычный пользователь чаще всего не выходит за пределы </a:t>
            </a:r>
            <a:r>
              <a:rPr lang="en-US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/home/&lt;username&gt;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458803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 sz="2000" b="1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Права доступа</a:t>
            </a:r>
            <a:endParaRPr/>
          </a:p>
        </p:txBody>
      </p:sp>
      <p:pic>
        <p:nvPicPr>
          <p:cNvPr id="220856432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5793316" y="1770858"/>
            <a:ext cx="4762499" cy="2857500"/>
          </a:xfrm>
          <a:prstGeom prst="rect">
            <a:avLst/>
          </a:prstGeom>
        </p:spPr>
      </p:pic>
      <p:sp>
        <p:nvSpPr>
          <p:cNvPr id="13063634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У каждого файла есть:</a:t>
            </a:r>
            <a:endParaRPr/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владелец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группа</a:t>
            </a:r>
            <a:endParaRPr/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права: read / write / execute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r = 4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w = 2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x = 1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Примеры</a:t>
            </a:r>
            <a:r>
              <a:rPr lang="en-US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: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rwx = 4+2+1 = 7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rw- = 4+2 = 6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r-- = 4 = 4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--- = 0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Система изначально многопользовательская и безопасная.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6644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sudo = </a:t>
            </a:r>
            <a:r>
              <a:rPr lang="ru-RU"/>
              <a:t>все права</a:t>
            </a:r>
            <a:endParaRPr/>
          </a:p>
        </p:txBody>
      </p:sp>
      <p:pic>
        <p:nvPicPr>
          <p:cNvPr id="1671781520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3833018" y="1600201"/>
            <a:ext cx="4525962" cy="4525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782111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Shell </a:t>
            </a:r>
            <a:r>
              <a:rPr lang="ru-RU"/>
              <a:t>и </a:t>
            </a:r>
            <a:r>
              <a:rPr lang="ru-RU"/>
              <a:t>команды</a:t>
            </a:r>
            <a:endParaRPr/>
          </a:p>
        </p:txBody>
      </p:sp>
      <p:pic>
        <p:nvPicPr>
          <p:cNvPr id="1749872930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7118810" y="273051"/>
            <a:ext cx="2111512" cy="5853113"/>
          </a:xfrm>
          <a:prstGeom prst="rect">
            <a:avLst/>
          </a:prstGeom>
        </p:spPr>
      </p:pic>
      <p:sp>
        <p:nvSpPr>
          <p:cNvPr id="2589156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Shell — программа-посредник между пользователем и системой.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Он: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парсит команды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запускает процессы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управляет вводом и выводом</a:t>
            </a:r>
            <a:br>
              <a:rPr/>
            </a:br>
            <a:endParaRPr/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Общий синтаксис: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command -flag --option value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Shell разбивает строку на аргументы и передаёт их программе.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366322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 sz="2000" b="1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Популярные дистрибутивы</a:t>
            </a:r>
            <a:endParaRPr/>
          </a:p>
        </p:txBody>
      </p:sp>
      <p:pic>
        <p:nvPicPr>
          <p:cNvPr id="13062971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4766732" y="1277241"/>
            <a:ext cx="6815666" cy="3844734"/>
          </a:xfrm>
          <a:prstGeom prst="rect">
            <a:avLst/>
          </a:prstGeom>
        </p:spPr>
      </p:pic>
      <p:sp>
        <p:nvSpPr>
          <p:cNvPr id="47144084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Ubuntu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Основан на Debian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Прост для входа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Много документации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Debian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Максимальная стабильность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Серверы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Медленные обновления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Fedora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Свежие версии софта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Тестовая площадка RedHat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Arch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Rolling release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Минимальная база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Полный контроль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Manjaro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Arch для новичков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Упрощённая установка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Дистрибутив = набор решений по умолчанию, а не другая ОС.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4777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Прикольные дистрибутивы</a:t>
            </a:r>
            <a:endParaRPr/>
          </a:p>
        </p:txBody>
      </p:sp>
      <p:pic>
        <p:nvPicPr>
          <p:cNvPr id="2105988883" name=""/>
          <p:cNvPicPr>
            <a:picLocks noChangeAspect="1"/>
          </p:cNvPicPr>
          <p:nvPr>
            <p:ph sz="half" idx="1"/>
          </p:nvPr>
        </p:nvPicPr>
        <p:blipFill rotWithShape="1">
          <a:blip r:embed="rId3"/>
          <a:stretch/>
        </p:blipFill>
        <p:spPr bwMode="auto">
          <a:xfrm rot="0">
            <a:off x="609599" y="2349455"/>
            <a:ext cx="5384799" cy="3027454"/>
          </a:xfrm>
          <a:prstGeom prst="rect">
            <a:avLst/>
          </a:prstGeom>
        </p:spPr>
      </p:pic>
      <p:pic>
        <p:nvPicPr>
          <p:cNvPr id="770409067" name=""/>
          <p:cNvPicPr>
            <a:picLocks noChangeAspect="1"/>
          </p:cNvPicPr>
          <p:nvPr>
            <p:ph sz="half" idx="2"/>
          </p:nvPr>
        </p:nvPicPr>
        <p:blipFill rotWithShape="1">
          <a:blip r:embed="rId4"/>
          <a:stretch/>
        </p:blipFill>
        <p:spPr bwMode="auto">
          <a:xfrm rot="0">
            <a:off x="6197599" y="1843882"/>
            <a:ext cx="5384799" cy="4038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124777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 sz="2000" b="1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Установка софта</a:t>
            </a:r>
            <a:endParaRPr/>
          </a:p>
        </p:txBody>
      </p:sp>
      <p:pic>
        <p:nvPicPr>
          <p:cNvPr id="126789088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5385729" y="273051"/>
            <a:ext cx="5577672" cy="5853113"/>
          </a:xfrm>
          <a:prstGeom prst="rect">
            <a:avLst/>
          </a:prstGeom>
        </p:spPr>
      </p:pic>
      <p:sp>
        <p:nvSpPr>
          <p:cNvPr id="14600370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defRPr/>
            </a:pPr>
            <a:r>
              <a:rPr lang="en-US"/>
              <a:t>apt (debian, ubuntu </a:t>
            </a:r>
            <a:r>
              <a:rPr lang="ru-RU"/>
              <a:t>и другие</a:t>
            </a:r>
            <a:r>
              <a:rPr lang="en-US"/>
              <a:t>)</a:t>
            </a:r>
            <a:endParaRPr/>
          </a:p>
          <a:p>
            <a:pPr marL="239821" indent="-239821">
              <a:buFont typeface="Arial"/>
              <a:buChar char="–"/>
              <a:defRPr/>
            </a:pPr>
            <a:r>
              <a:rPr lang="en-US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скачивает пакет</a:t>
            </a:r>
            <a:endParaRPr lang="en-US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en-US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проверяет зависимости</a:t>
            </a:r>
            <a:endParaRPr lang="en-US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en-US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устанавливает бинарники и конфиги</a:t>
            </a:r>
            <a:endParaRPr lang="en-US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apt install </a:t>
            </a:r>
            <a:r>
              <a:rPr lang="en-US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zen-browser</a:t>
            </a:r>
            <a:endParaRPr lang="en-US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pacman</a:t>
            </a:r>
            <a:r>
              <a:rPr lang="en-US"/>
              <a:t> / paru / yay</a:t>
            </a:r>
            <a:endParaRPr lang="en-US"/>
          </a:p>
          <a:p>
            <a:pPr>
              <a:defRPr/>
            </a:pPr>
            <a:endParaRPr lang="en-US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en-US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скачивание из репозитория</a:t>
            </a:r>
            <a:endParaRPr/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исходники от сообщества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сборка локально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интеграция в систему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paru</a:t>
            </a: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-S </a:t>
            </a:r>
            <a:r>
              <a:rPr lang="en-US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zen-browser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Ты знаешь, что устанавливаешь.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7950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 sz="2000" b="1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Обновление системы</a:t>
            </a:r>
            <a:endParaRPr/>
          </a:p>
        </p:txBody>
      </p:sp>
      <p:pic>
        <p:nvPicPr>
          <p:cNvPr id="16808704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5888680" y="273051"/>
            <a:ext cx="4571772" cy="5853113"/>
          </a:xfrm>
          <a:prstGeom prst="rect">
            <a:avLst/>
          </a:prstGeom>
        </p:spPr>
      </p:pic>
      <p:sp>
        <p:nvSpPr>
          <p:cNvPr id="210863700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apt upgrade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или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pacman -Syu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Обновляется: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ядро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библиотеки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приложения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Одним механизмом.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831511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ru-RU" sz="4000" b="1" i="0" u="none" strike="noStrike" cap="all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Flatpak</a:t>
            </a:r>
            <a:endParaRPr/>
          </a:p>
        </p:txBody>
      </p:sp>
      <p:sp>
        <p:nvSpPr>
          <p:cNvPr id="19192852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Flatpak запускает приложение в sandbox.</a:t>
            </a:r>
            <a:endParaRPr lang="ru-RU" sz="2000" b="0" i="0" u="none" strike="noStrike" cap="none" spc="0">
              <a:solidFill>
                <a:schemeClr val="tx1">
                  <a:tint val="7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Все зависимости идут вместе с приложением.</a:t>
            </a:r>
            <a:endParaRPr lang="ru-RU" sz="2000" b="0" i="0" u="none" strike="noStrike" cap="none" spc="0">
              <a:solidFill>
                <a:schemeClr val="tx1">
                  <a:tint val="7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Работает одинаково на всех дистрибутивах.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110388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ru-RU" sz="4000" b="1" i="0" u="none" strike="noStrike" cap="all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Графика: X11</a:t>
            </a:r>
            <a:endParaRPr/>
          </a:p>
        </p:txBody>
      </p:sp>
      <p:sp>
        <p:nvSpPr>
          <p:cNvPr id="106611406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X11 — сетевой сервер.</a:t>
            </a:r>
            <a:endParaRPr lang="ru-RU" sz="2000" b="0" i="0" u="none" strike="noStrike" cap="none" spc="0">
              <a:solidFill>
                <a:schemeClr val="tx1">
                  <a:tint val="7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Клиенты отправляют команды отрисовки.</a:t>
            </a:r>
            <a:endParaRPr lang="ru-RU" sz="2000" b="0" i="0" u="none" strike="noStrike" cap="none" spc="0">
              <a:solidFill>
                <a:schemeClr val="tx1">
                  <a:tint val="7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Устаревшая и небезопасная архитектура.</a:t>
            </a:r>
            <a:br>
              <a:rPr/>
            </a:br>
            <a:r>
              <a:rPr/>
              <a:t>Однако проверенная временем.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099960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ru-RU" sz="4000" b="1" i="0" u="none" strike="noStrike" cap="all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Графика: Wayland</a:t>
            </a:r>
            <a:endParaRPr/>
          </a:p>
        </p:txBody>
      </p:sp>
      <p:sp>
        <p:nvSpPr>
          <p:cNvPr id="11081274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Wayland — прямое взаимодействие клиента и композитора.</a:t>
            </a:r>
            <a:endParaRPr lang="ru-RU" sz="2000" b="0" i="0" u="none" strike="noStrike" cap="none" spc="0">
              <a:solidFill>
                <a:schemeClr val="tx1">
                  <a:tint val="7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Меньше слоёв → меньше лагов → больше безопасности.</a:t>
            </a:r>
            <a:br>
              <a:rPr/>
            </a:br>
            <a:r>
              <a:rPr lang="ru-RU"/>
              <a:t>Однако есть проблемы с совместимостью.</a:t>
            </a:r>
            <a:br>
              <a:rPr lang="ru-RU"/>
            </a:br>
            <a:r>
              <a:rPr lang="ru-RU"/>
              <a:t>(проблемы решаются с помощью </a:t>
            </a:r>
            <a:r>
              <a:rPr lang="en-US"/>
              <a:t>xwayland</a:t>
            </a:r>
            <a:r>
              <a:rPr lang="ru-RU"/>
              <a:t>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218311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Кастомизация в Linux</a:t>
            </a:r>
            <a:endParaRPr/>
          </a:p>
        </p:txBody>
      </p:sp>
      <p:pic>
        <p:nvPicPr>
          <p:cNvPr id="1951734071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4766732" y="1038995"/>
            <a:ext cx="6815666" cy="4321225"/>
          </a:xfrm>
          <a:prstGeom prst="rect">
            <a:avLst/>
          </a:prstGeom>
        </p:spPr>
      </p:pic>
      <p:sp>
        <p:nvSpPr>
          <p:cNvPr id="84603275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Уровни кастомизации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Shell (bash, zsh, fish)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Desktop Environment (KDE, GNOME)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Window Manager (i3, bspwm, hyprland)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Что можно менять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Поведение окон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Горячие клавиши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Автозапуск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Анимации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Workflow</a:t>
            </a:r>
            <a:endParaRPr lang="en-US"/>
          </a:p>
          <a:p>
            <a:pPr marL="239821" indent="-239821">
              <a:buFont typeface="Arial"/>
              <a:buChar char="–"/>
              <a:defRPr/>
            </a:pPr>
            <a:endParaRPr/>
          </a:p>
          <a:p>
            <a:pPr>
              <a:defRPr/>
            </a:pPr>
            <a:r>
              <a:rPr lang="ru-RU"/>
              <a:t>Если будет интересно</a:t>
            </a:r>
            <a:br>
              <a:rPr lang="ru-RU"/>
            </a:br>
            <a:r>
              <a:rPr lang="en-US"/>
              <a:t>reddit /unixporn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102375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Unixporn</a:t>
            </a:r>
            <a:endParaRPr/>
          </a:p>
        </p:txBody>
      </p:sp>
      <p:pic>
        <p:nvPicPr>
          <p:cNvPr id="1434504611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5888566" y="1485108"/>
            <a:ext cx="4572000" cy="3429000"/>
          </a:xfrm>
          <a:prstGeom prst="rect">
            <a:avLst/>
          </a:prstGeom>
        </p:spPr>
      </p:pic>
      <p:sp>
        <p:nvSpPr>
          <p:cNvPr id="191580598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defRPr/>
            </a:pPr>
            <a:r>
              <a:rPr lang="ru-RU" sz="1400" b="0" i="0" u="sng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hlinkClick r:id="rId4" tooltip=""/>
              </a:rPr>
              <a:t>https://www.reddit.com/r/unixporn/comments/1ky6m7w/kde_unmicrosofted_windows_11/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ru-RU" sz="1400" b="0" i="0" u="sng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hlinkClick r:id="rId5" tooltip=""/>
              </a:rPr>
              <a:t>https://www.reddit.com/r/unixporn/comments/1qgghzz/kde_windoesnt_7/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ru-RU" sz="1400" b="0" i="0" u="sng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hlinkClick r:id="rId6" tooltip=""/>
              </a:rPr>
              <a:t>https://www.reddit.com/r/unixporn/comments/1qiw0pm/niri_my_attempt_at_a_retro_inspired_setup/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ru-RU" sz="1400" b="0" i="0" u="sng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hlinkClick r:id="rId7" tooltip=""/>
              </a:rPr>
              <a:t>https://www.reddit.com/r/unixporn/comments/1qfhfvi/hyprland_blur_ahoy/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ru-RU" sz="1400" b="0" i="0" u="sng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hlinkClick r:id="rId8" tooltip=""/>
              </a:rPr>
              <a:t>https://www.reddit.com/r/unixporn/comments/1qg8zcf/kde_my_minimalist_monochrome_rice/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066385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 sz="2000" b="1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Wine</a:t>
            </a:r>
            <a:endParaRPr/>
          </a:p>
        </p:txBody>
      </p:sp>
      <p:pic>
        <p:nvPicPr>
          <p:cNvPr id="1460287467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6224380" y="273051"/>
            <a:ext cx="3900371" cy="5853113"/>
          </a:xfrm>
          <a:prstGeom prst="rect">
            <a:avLst/>
          </a:prstGeom>
        </p:spPr>
      </p:pic>
      <p:sp>
        <p:nvSpPr>
          <p:cNvPr id="20574102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Wine реализует Windows API поверх Linux.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Программа думает, что работает в Windows.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На деле — использует Linux syscalls.</a:t>
            </a:r>
            <a:br>
              <a:rPr/>
            </a:br>
            <a:br>
              <a:rPr/>
            </a:br>
            <a:r>
              <a:rPr lang="ru-RU"/>
              <a:t>То есть ты можешь просто запустить </a:t>
            </a:r>
            <a:r>
              <a:rPr lang="en-US"/>
              <a:t>exe </a:t>
            </a:r>
            <a:r>
              <a:rPr lang="ru-RU"/>
              <a:t>на </a:t>
            </a:r>
            <a:r>
              <a:rPr lang="en-US"/>
              <a:t>linux.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703316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 sz="2000" b="1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Proton</a:t>
            </a:r>
            <a:endParaRPr/>
          </a:p>
        </p:txBody>
      </p:sp>
      <p:pic>
        <p:nvPicPr>
          <p:cNvPr id="1285903289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4766732" y="1318529"/>
            <a:ext cx="6815666" cy="3762158"/>
          </a:xfrm>
          <a:prstGeom prst="rect">
            <a:avLst/>
          </a:prstGeom>
        </p:spPr>
      </p:pic>
      <p:sp>
        <p:nvSpPr>
          <p:cNvPr id="88399083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Proton = Wine + DXVK + патчи</a:t>
            </a:r>
            <a:r>
              <a:rPr lang="en-US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от </a:t>
            </a:r>
            <a:r>
              <a:rPr lang="en-US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Valve</a:t>
            </a: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.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DirectX → Vulkan.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Steam автоматизирует весь процесс.</a:t>
            </a:r>
            <a:br>
              <a:rPr/>
            </a:br>
            <a:br>
              <a:rPr/>
            </a:br>
            <a:r>
              <a:rPr/>
              <a:t>ПРОБЛЕМА</a:t>
            </a:r>
            <a:br>
              <a:rPr/>
            </a:br>
            <a:br>
              <a:rPr/>
            </a:b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Античиты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Kernel-античиты требуют доступ к ядру Windows.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Linux не даёт такого доступа стороннему софту.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br>
              <a:rPr/>
            </a:br>
            <a:r>
              <a:rPr lang="ru-RU"/>
              <a:t>Например</a:t>
            </a:r>
            <a:r>
              <a:rPr lang="en-US"/>
              <a:t>: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en-US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Fortnite</a:t>
            </a:r>
            <a:endParaRPr lang="en-US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en-US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Valorant</a:t>
            </a:r>
            <a:endParaRPr lang="en-US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Escape From Tarkov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531718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Кто использует </a:t>
            </a:r>
            <a:r>
              <a:rPr lang="en-US"/>
              <a:t>Linux</a:t>
            </a:r>
            <a:r>
              <a:rPr lang="en-US"/>
              <a:t>?</a:t>
            </a:r>
            <a:endParaRPr/>
          </a:p>
        </p:txBody>
      </p:sp>
      <p:pic>
        <p:nvPicPr>
          <p:cNvPr id="714520445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5356092" y="273051"/>
            <a:ext cx="5636946" cy="5853113"/>
          </a:xfrm>
          <a:prstGeom prst="rect">
            <a:avLst/>
          </a:prstGeom>
        </p:spPr>
      </p:pic>
      <p:sp>
        <p:nvSpPr>
          <p:cNvPr id="124184135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Серверы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195764" indent="-195764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Веб-серверы (nginx, apache)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195764" indent="-195764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Базы данных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195764" indent="-195764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Облака и контейнеры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Почти весь интернет крутится на Linux</a:t>
            </a:r>
            <a:endParaRPr/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Android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Linux kernel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Свой userspace (не GNU)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Драйверы и планировщик — Linux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Устройства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Роутеры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NAS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Смарт-ТВ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112323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 sz="2000" b="1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Что в итоге даёт GNU/Linux</a:t>
            </a:r>
            <a:endParaRPr/>
          </a:p>
        </p:txBody>
      </p:sp>
      <p:pic>
        <p:nvPicPr>
          <p:cNvPr id="2121665386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5917141" y="1556546"/>
            <a:ext cx="4514850" cy="3286125"/>
          </a:xfrm>
          <a:prstGeom prst="rect">
            <a:avLst/>
          </a:prstGeom>
        </p:spPr>
      </p:pic>
      <p:sp>
        <p:nvSpPr>
          <p:cNvPr id="117668126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Технически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28807" indent="-228807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Чёткое разделение ядра и user space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28807" indent="-228807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Предсказуемая архитектура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28807" indent="-228807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Прозрачные механизмы работы процессов, памяти, файлов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28807" indent="-228807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Единый способ установки и обновления софта</a:t>
            </a:r>
            <a:endParaRPr/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Практически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28807" indent="-228807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Используется в серверах, облаках, Android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28807" indent="-228807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Является стандартом для DevOps и backend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28807" indent="-228807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Подходит для разработки и обучения ОС</a:t>
            </a:r>
            <a:endParaRPr/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Для пользователя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Система подстраивается под тебя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Нет скрытых ограничений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Ты понимаешь, что и почему происходит</a:t>
            </a:r>
            <a:endParaRPr/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Ограничения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Меньше коммерческого софта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Игры и античиты зависят от разработчиков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Главный вывод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Windows учит пользоваться компьютером.</a:t>
            </a:r>
            <a:endParaRPr lang="ru-RU" sz="1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GNU/Linux учит понимать, как он работает.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2026-01-21T22:14:12Z</dcterms:modified>
</cp:coreProperties>
</file>